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6.xml" ContentType="application/vnd.openxmlformats-officedocument.drawingml.chart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76" y="-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Revenue (USD)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703-41E6-BB8C-ECF6B170E409}"/>
              </c:ext>
            </c:extLst>
          </c:dPt>
          <c:dPt>
            <c:idx val="1"/>
            <c:invertIfNegative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703-41E6-BB8C-ECF6B170E409}"/>
              </c:ext>
            </c:extLst>
          </c:dPt>
          <c:dLbls>
            <c:numFmt formatCode="\$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B3D3D"/>
                    </a:solidFill>
                    <a:latin typeface="Arial"/>
                  </a:defRPr>
                </a:pPr>
                <a:endParaRPr lang="en-FI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Male</c:v>
                </c:pt>
                <c:pt idx="1">
                  <c:v>Female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157890</c:v>
                </c:pt>
                <c:pt idx="1">
                  <c:v>75191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703-41E6-BB8C-ECF6B170E40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D3A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CF3-46DF-A149-DD555482B04E}"/>
              </c:ext>
            </c:extLst>
          </c:dPt>
          <c:dPt>
            <c:idx val="1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CF3-46DF-A149-DD555482B04E}"/>
              </c:ext>
            </c:extLst>
          </c:dPt>
          <c:dPt>
            <c:idx val="2"/>
            <c:bubble3D val="0"/>
            <c:spPr>
              <a:solidFill>
                <a:srgbClr val="02C3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CF3-46DF-A149-DD555482B04E}"/>
              </c:ext>
            </c:extLst>
          </c:dPt>
          <c:cat>
            <c:strRef>
              <c:f>Sheet1!$A$2:$A$4</c:f>
              <c:strCache>
                <c:ptCount val="3"/>
                <c:pt idx="0">
                  <c:v>Loyal</c:v>
                </c:pt>
                <c:pt idx="1">
                  <c:v>Returning</c:v>
                </c:pt>
                <c:pt idx="2">
                  <c:v>New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3116</c:v>
                </c:pt>
                <c:pt idx="1">
                  <c:v>701</c:v>
                </c:pt>
                <c:pt idx="2">
                  <c:v>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CF3-46DF-A149-DD555482B0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Rating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B3D3D"/>
                    </a:solidFill>
                    <a:latin typeface="Arial"/>
                  </a:defRPr>
                </a:pPr>
                <a:endParaRPr lang="en-FI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Gloves</c:v>
                </c:pt>
                <c:pt idx="1">
                  <c:v>Sandals</c:v>
                </c:pt>
                <c:pt idx="2">
                  <c:v>Boots</c:v>
                </c:pt>
                <c:pt idx="3">
                  <c:v>Hat</c:v>
                </c:pt>
                <c:pt idx="4">
                  <c:v>Skirt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3.86</c:v>
                </c:pt>
                <c:pt idx="1">
                  <c:v>3.84</c:v>
                </c:pt>
                <c:pt idx="2">
                  <c:v>3.82</c:v>
                </c:pt>
                <c:pt idx="3">
                  <c:v>3.8</c:v>
                </c:pt>
                <c:pt idx="4">
                  <c:v>3.78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FCF-4789-8EDC-343D00D7F1A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D3A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"/>
          <c:min val="3.5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Discount Rate (%)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B3D3D"/>
                    </a:solidFill>
                    <a:latin typeface="Arial"/>
                  </a:defRPr>
                </a:pPr>
                <a:endParaRPr lang="en-FI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Hat</c:v>
                </c:pt>
                <c:pt idx="1">
                  <c:v>Sneakers</c:v>
                </c:pt>
                <c:pt idx="2">
                  <c:v>Coat</c:v>
                </c:pt>
                <c:pt idx="3">
                  <c:v>Sweater</c:v>
                </c:pt>
                <c:pt idx="4">
                  <c:v>Pants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</c:v>
                </c:pt>
                <c:pt idx="1">
                  <c:v>49.66</c:v>
                </c:pt>
                <c:pt idx="2">
                  <c:v>49.07</c:v>
                </c:pt>
                <c:pt idx="3">
                  <c:v>48.17</c:v>
                </c:pt>
                <c:pt idx="4">
                  <c:v>47.37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7D4-4AD5-82F3-6BBAD1999B1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D3A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5"/>
          <c:min val="40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Purchase ($)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797-445C-8393-4E9F981E5158}"/>
              </c:ext>
            </c:extLst>
          </c:dPt>
          <c:dPt>
            <c:idx val="1"/>
            <c:invertIfNegative val="0"/>
            <c:bubble3D val="0"/>
            <c:spPr>
              <a:solidFill>
                <a:srgbClr val="02C3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797-445C-8393-4E9F981E5158}"/>
              </c:ext>
            </c:extLst>
          </c:dPt>
          <c:dLbls>
            <c:numFmt formatCode="\$#,##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B3D3D"/>
                    </a:solidFill>
                    <a:latin typeface="Arial"/>
                  </a:defRPr>
                </a:pPr>
                <a:endParaRPr lang="en-FI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Express</c:v>
                </c:pt>
                <c:pt idx="1">
                  <c:v>Standard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60.48</c:v>
                </c:pt>
                <c:pt idx="1">
                  <c:v>58.46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797-445C-8393-4E9F981E515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D3A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Revenue (USD)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\$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50" b="0" i="0" u="none" strike="noStrike">
                    <a:solidFill>
                      <a:srgbClr val="0B3D3D"/>
                    </a:solidFill>
                    <a:latin typeface="Arial"/>
                  </a:defRPr>
                </a:pPr>
                <a:endParaRPr lang="en-FI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Young Adult</c:v>
                </c:pt>
                <c:pt idx="1">
                  <c:v>Middle-Aged</c:v>
                </c:pt>
                <c:pt idx="2">
                  <c:v>Adult</c:v>
                </c:pt>
                <c:pt idx="3">
                  <c:v>Senior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62143</c:v>
                </c:pt>
                <c:pt idx="1">
                  <c:v>59197</c:v>
                </c:pt>
                <c:pt idx="2">
                  <c:v>55978</c:v>
                </c:pt>
                <c:pt idx="3">
                  <c:v>55763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323-4699-870A-D225ACE3238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D3A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093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FI"/>
          </a:p>
        </p:txBody>
      </p:sp>
      <p:sp>
        <p:nvSpPr>
          <p:cNvPr id="3" name="Shape 1"/>
          <p:cNvSpPr/>
          <p:nvPr/>
        </p:nvSpPr>
        <p:spPr>
          <a:xfrm>
            <a:off x="10881360" y="4480560"/>
            <a:ext cx="2377440" cy="237744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FI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ANALYTICS  ·  2026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2286000"/>
            <a:ext cx="8686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Shopping</a:t>
            </a:r>
            <a:endParaRPr lang="en-US" sz="4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Behavior Analysis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21792" y="425196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B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3,900 transactions reveal about spending habits, loyalty, and where the next revenue is hiding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21792" y="52578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3,900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21792" y="58064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kern="0" spc="100" dirty="0">
                <a:solidFill>
                  <a:srgbClr val="8FC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907792" y="52578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907792" y="58064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kern="0" spc="100" dirty="0">
                <a:solidFill>
                  <a:srgbClr val="8FC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FIELDS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193792" y="52578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$232K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193792" y="58064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kern="0" spc="100" dirty="0">
                <a:solidFill>
                  <a:srgbClr val="8FC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clean, well-structured dataset built for insight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Transactional data across product categories, cleaned and enriched in Python before analysis in SQL and Power BI.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4709160" cy="1691640"/>
          </a:xfrm>
          <a:prstGeom prst="roundRect">
            <a:avLst>
              <a:gd name="adj" fmla="val 5405"/>
            </a:avLst>
          </a:prstGeom>
          <a:solidFill>
            <a:srgbClr val="F2F9F8"/>
          </a:solidFill>
          <a:ln/>
          <a:effectLst>
            <a:outerShdw blurRad="76200" dist="25400" dir="5400000" algn="bl" rotWithShape="0">
              <a:srgbClr val="9CC7C2">
                <a:alpha val="25000"/>
              </a:srgbClr>
            </a:outerShdw>
          </a:effectLst>
        </p:spPr>
        <p:txBody>
          <a:bodyPr/>
          <a:lstStyle/>
          <a:p>
            <a:endParaRPr lang="en-FI"/>
          </a:p>
        </p:txBody>
      </p:sp>
      <p:sp>
        <p:nvSpPr>
          <p:cNvPr id="6" name="Shape 4"/>
          <p:cNvSpPr/>
          <p:nvPr/>
        </p:nvSpPr>
        <p:spPr>
          <a:xfrm>
            <a:off x="804672" y="240487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FI"/>
          </a:p>
        </p:txBody>
      </p:sp>
      <p:sp>
        <p:nvSpPr>
          <p:cNvPr id="7" name="Text 5"/>
          <p:cNvSpPr/>
          <p:nvPr/>
        </p:nvSpPr>
        <p:spPr>
          <a:xfrm>
            <a:off x="804672" y="2404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235000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17320" y="2715768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gender, location &amp; subscription status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23560" y="2148840"/>
            <a:ext cx="4709160" cy="1691640"/>
          </a:xfrm>
          <a:prstGeom prst="roundRect">
            <a:avLst>
              <a:gd name="adj" fmla="val 5405"/>
            </a:avLst>
          </a:prstGeom>
          <a:solidFill>
            <a:srgbClr val="F2F9F8"/>
          </a:solidFill>
          <a:ln/>
          <a:effectLst>
            <a:outerShdw blurRad="76200" dist="25400" dir="5400000" algn="bl" rotWithShape="0">
              <a:srgbClr val="9CC7C2">
                <a:alpha val="25000"/>
              </a:srgbClr>
            </a:outerShdw>
          </a:effectLst>
        </p:spPr>
        <p:txBody>
          <a:bodyPr/>
          <a:lstStyle/>
          <a:p>
            <a:endParaRPr lang="en-FI"/>
          </a:p>
        </p:txBody>
      </p:sp>
      <p:sp>
        <p:nvSpPr>
          <p:cNvPr id="11" name="Shape 9"/>
          <p:cNvSpPr/>
          <p:nvPr/>
        </p:nvSpPr>
        <p:spPr>
          <a:xfrm>
            <a:off x="5879592" y="240487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FI"/>
          </a:p>
        </p:txBody>
      </p:sp>
      <p:sp>
        <p:nvSpPr>
          <p:cNvPr id="12" name="Text 10"/>
          <p:cNvSpPr/>
          <p:nvPr/>
        </p:nvSpPr>
        <p:spPr>
          <a:xfrm>
            <a:off x="5879592" y="2404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35000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Details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92240" y="2715768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Item, category, amount, season, size &amp; color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114800"/>
            <a:ext cx="4709160" cy="1691640"/>
          </a:xfrm>
          <a:prstGeom prst="roundRect">
            <a:avLst>
              <a:gd name="adj" fmla="val 5405"/>
            </a:avLst>
          </a:prstGeom>
          <a:solidFill>
            <a:srgbClr val="F2F9F8"/>
          </a:solidFill>
          <a:ln/>
          <a:effectLst>
            <a:outerShdw blurRad="76200" dist="25400" dir="5400000" algn="bl" rotWithShape="0">
              <a:srgbClr val="9CC7C2">
                <a:alpha val="25000"/>
              </a:srgbClr>
            </a:outerShdw>
          </a:effectLst>
        </p:spPr>
        <p:txBody>
          <a:bodyPr/>
          <a:lstStyle/>
          <a:p>
            <a:endParaRPr lang="en-FI"/>
          </a:p>
        </p:txBody>
      </p:sp>
      <p:sp>
        <p:nvSpPr>
          <p:cNvPr id="16" name="Shape 14"/>
          <p:cNvSpPr/>
          <p:nvPr/>
        </p:nvSpPr>
        <p:spPr>
          <a:xfrm>
            <a:off x="804672" y="437083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FI"/>
          </a:p>
        </p:txBody>
      </p:sp>
      <p:sp>
        <p:nvSpPr>
          <p:cNvPr id="17" name="Text 15"/>
          <p:cNvSpPr/>
          <p:nvPr/>
        </p:nvSpPr>
        <p:spPr>
          <a:xfrm>
            <a:off x="804672" y="43708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431596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Behavior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17320" y="4681728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Discounts, promo codes, frequency &amp; ratings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23560" y="4114800"/>
            <a:ext cx="4709160" cy="1691640"/>
          </a:xfrm>
          <a:prstGeom prst="roundRect">
            <a:avLst>
              <a:gd name="adj" fmla="val 5405"/>
            </a:avLst>
          </a:prstGeom>
          <a:solidFill>
            <a:srgbClr val="F2F9F8"/>
          </a:solidFill>
          <a:ln/>
          <a:effectLst>
            <a:outerShdw blurRad="76200" dist="25400" dir="5400000" algn="bl" rotWithShape="0">
              <a:srgbClr val="9CC7C2">
                <a:alpha val="25000"/>
              </a:srgbClr>
            </a:outerShdw>
          </a:effectLst>
        </p:spPr>
        <p:txBody>
          <a:bodyPr/>
          <a:lstStyle/>
          <a:p>
            <a:endParaRPr lang="en-FI"/>
          </a:p>
        </p:txBody>
      </p:sp>
      <p:sp>
        <p:nvSpPr>
          <p:cNvPr id="21" name="Shape 19"/>
          <p:cNvSpPr/>
          <p:nvPr/>
        </p:nvSpPr>
        <p:spPr>
          <a:xfrm>
            <a:off x="5879592" y="437083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FI"/>
          </a:p>
        </p:txBody>
      </p:sp>
      <p:sp>
        <p:nvSpPr>
          <p:cNvPr id="22" name="Text 20"/>
          <p:cNvSpPr/>
          <p:nvPr/>
        </p:nvSpPr>
        <p:spPr>
          <a:xfrm>
            <a:off x="5879592" y="43708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92240" y="431596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92240" y="4681728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37 missing review ratings — imputed by category median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Male shoppers drive more than double female revenue</a:t>
            </a:r>
            <a:endParaRPr lang="en-US" sz="2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54480"/>
          <a:ext cx="60350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858000" y="1554480"/>
            <a:ext cx="4754880" cy="4206240"/>
          </a:xfrm>
          <a:prstGeom prst="roundRect">
            <a:avLst>
              <a:gd name="adj" fmla="val 2174"/>
            </a:avLst>
          </a:prstGeom>
          <a:solidFill>
            <a:srgbClr val="F2F9F8"/>
          </a:solidFill>
          <a:ln/>
        </p:spPr>
        <p:txBody>
          <a:bodyPr/>
          <a:lstStyle/>
          <a:p>
            <a:endParaRPr lang="en-FI"/>
          </a:p>
        </p:txBody>
      </p:sp>
      <p:sp>
        <p:nvSpPr>
          <p:cNvPr id="6" name="Text 3"/>
          <p:cNvSpPr/>
          <p:nvPr/>
        </p:nvSpPr>
        <p:spPr>
          <a:xfrm>
            <a:off x="7178040" y="18288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178040" y="214884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68%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7178040" y="297180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total revenue comes from male customers ($157.9K vs $75.2K)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178040" y="3977640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checking: is this a true demand gap, or a sign that marketing and merchandising skew male? Testing female-focused campaigns could unlock a large, under-served segment.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Loyalty already runs deep — 80% of customers are “Loyal”</a:t>
            </a:r>
            <a:endParaRPr lang="en-US" sz="2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600200"/>
          <a:ext cx="493776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852160" y="1746504"/>
            <a:ext cx="201168" cy="20116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FI"/>
          </a:p>
        </p:txBody>
      </p:sp>
      <p:sp>
        <p:nvSpPr>
          <p:cNvPr id="6" name="Text 3"/>
          <p:cNvSpPr/>
          <p:nvPr/>
        </p:nvSpPr>
        <p:spPr>
          <a:xfrm>
            <a:off x="617220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052560" y="1645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3,116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172200" y="205740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6+ purchases — the backbone of revenue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852160" y="2980944"/>
            <a:ext cx="201168" cy="201168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FI"/>
          </a:p>
        </p:txBody>
      </p:sp>
      <p:sp>
        <p:nvSpPr>
          <p:cNvPr id="10" name="Text 7"/>
          <p:cNvSpPr/>
          <p:nvPr/>
        </p:nvSpPr>
        <p:spPr>
          <a:xfrm>
            <a:off x="6172200" y="2880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Returning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052560" y="28803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172200" y="329184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2–5 purchases — prime upsell target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852160" y="4215384"/>
            <a:ext cx="201168" cy="201168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FI"/>
          </a:p>
        </p:txBody>
      </p:sp>
      <p:sp>
        <p:nvSpPr>
          <p:cNvPr id="14" name="Text 11"/>
          <p:cNvSpPr/>
          <p:nvPr/>
        </p:nvSpPr>
        <p:spPr>
          <a:xfrm>
            <a:off x="6172200" y="4114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9052560" y="4114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172200" y="452628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First-time buyers — small but growing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PERFORMANCE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Top-rated products cluster tightly around 3.8–3.9</a:t>
            </a:r>
            <a:endParaRPr lang="en-US" sz="2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00200"/>
          <a:ext cx="69494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600200"/>
            <a:ext cx="3840480" cy="4206240"/>
          </a:xfrm>
          <a:prstGeom prst="roundRect">
            <a:avLst>
              <a:gd name="adj" fmla="val 2381"/>
            </a:avLst>
          </a:prstGeom>
          <a:solidFill>
            <a:srgbClr val="F2F9F8"/>
          </a:solidFill>
          <a:ln/>
        </p:spPr>
        <p:txBody>
          <a:bodyPr/>
          <a:lstStyle/>
          <a:p>
            <a:endParaRPr lang="en-FI"/>
          </a:p>
        </p:txBody>
      </p:sp>
      <p:sp>
        <p:nvSpPr>
          <p:cNvPr id="6" name="Text 3"/>
          <p:cNvSpPr/>
          <p:nvPr/>
        </p:nvSpPr>
        <p:spPr>
          <a:xfrm>
            <a:off x="8092440" y="18745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what?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092440" y="228600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are close, so featured-product picks should lean on margin and sell-through, not rating alone.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092440" y="342900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Gloves, Sandals and Boots are safe hero products for homepage and email features.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DEPENDENCY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Half of all Hat purchases only happen at a discount</a:t>
            </a:r>
            <a:endParaRPr lang="en-US" sz="2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00200"/>
          <a:ext cx="69494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600200"/>
            <a:ext cx="3840480" cy="4206240"/>
          </a:xfrm>
          <a:prstGeom prst="roundRect">
            <a:avLst>
              <a:gd name="adj" fmla="val 2381"/>
            </a:avLst>
          </a:prstGeom>
          <a:solidFill>
            <a:srgbClr val="F2F9F8"/>
          </a:solidFill>
          <a:ln/>
        </p:spPr>
        <p:txBody>
          <a:bodyPr/>
          <a:lstStyle/>
          <a:p>
            <a:endParaRPr lang="en-FI"/>
          </a:p>
        </p:txBody>
      </p:sp>
      <p:sp>
        <p:nvSpPr>
          <p:cNvPr id="6" name="Text 3"/>
          <p:cNvSpPr/>
          <p:nvPr/>
        </p:nvSpPr>
        <p:spPr>
          <a:xfrm>
            <a:off x="8092440" y="18745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to watch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092440" y="228600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1 in 2 purchases of these five items involves a discount — customers may be anchoring on markdown pricing.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092440" y="361188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smaller, targeted discounts or bundle these with full-price items to protect margin.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&amp; SUBSCRIPTIONS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3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Subscribers spend about the same — but there are 3x fewer of them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120640" cy="4206240"/>
          </a:xfrm>
          <a:prstGeom prst="roundRect">
            <a:avLst>
              <a:gd name="adj" fmla="val 2174"/>
            </a:avLst>
          </a:prstGeom>
          <a:solidFill>
            <a:srgbClr val="F2F9F8"/>
          </a:solidFill>
          <a:ln/>
        </p:spPr>
        <p:txBody>
          <a:bodyPr/>
          <a:lstStyle/>
          <a:p>
            <a:endParaRPr lang="en-FI"/>
          </a:p>
        </p:txBody>
      </p:sp>
      <p:sp>
        <p:nvSpPr>
          <p:cNvPr id="5" name="Text 3"/>
          <p:cNvSpPr/>
          <p:nvPr/>
        </p:nvSpPr>
        <p:spPr>
          <a:xfrm>
            <a:off x="868680" y="1783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TYPE — AVG PURCHASE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777240" y="2194560"/>
          <a:ext cx="457200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868680" y="470916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shippers spend only ~$2 more — not enough to justify pushing Express as a margin lever on its own.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943600" y="1554480"/>
            <a:ext cx="5669280" cy="4206240"/>
          </a:xfrm>
          <a:prstGeom prst="roundRect">
            <a:avLst>
              <a:gd name="adj" fmla="val 2174"/>
            </a:avLst>
          </a:prstGeom>
          <a:solidFill>
            <a:srgbClr val="F2F9F8"/>
          </a:solidFill>
          <a:ln/>
        </p:spPr>
        <p:txBody>
          <a:bodyPr/>
          <a:lstStyle/>
          <a:p>
            <a:endParaRPr lang="en-FI"/>
          </a:p>
        </p:txBody>
      </p:sp>
      <p:sp>
        <p:nvSpPr>
          <p:cNvPr id="9" name="Text 6"/>
          <p:cNvSpPr/>
          <p:nvPr/>
        </p:nvSpPr>
        <p:spPr>
          <a:xfrm>
            <a:off x="6263640" y="17830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STATUS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309360" y="22402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1,053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8366760" y="231343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366760" y="26060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$62,645 total revenue · $59.49 avg spend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309360" y="32918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2,847</a:t>
            </a:r>
            <a:endParaRPr lang="en-US" sz="3400" dirty="0"/>
          </a:p>
        </p:txBody>
      </p:sp>
      <p:sp>
        <p:nvSpPr>
          <p:cNvPr id="14" name="Text 11"/>
          <p:cNvSpPr/>
          <p:nvPr/>
        </p:nvSpPr>
        <p:spPr>
          <a:xfrm>
            <a:off x="8366760" y="336499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NON-SUBSCRIBERS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366760" y="36576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$170,436 total revenue · $59.87 avg spend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309360" y="4434840"/>
            <a:ext cx="5029200" cy="0"/>
          </a:xfrm>
          <a:prstGeom prst="line">
            <a:avLst/>
          </a:prstGeom>
          <a:noFill/>
          <a:ln w="12700">
            <a:solidFill>
              <a:srgbClr val="C9E4E1"/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17" name="Text 14"/>
          <p:cNvSpPr/>
          <p:nvPr/>
        </p:nvSpPr>
        <p:spPr>
          <a:xfrm>
            <a:off x="6309360" y="461772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1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spend is nearly identical between groups — subscription isn't yet driving bigger baskets, only broader reach.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LEADERS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3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category has a clear #1 — led by Jewelry, Blouses &amp; Jackets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97480" cy="4206240"/>
          </a:xfrm>
          <a:prstGeom prst="roundRect">
            <a:avLst>
              <a:gd name="adj" fmla="val 3390"/>
            </a:avLst>
          </a:prstGeom>
          <a:solidFill>
            <a:srgbClr val="F2F9F8"/>
          </a:solidFill>
          <a:ln/>
        </p:spPr>
        <p:txBody>
          <a:bodyPr/>
          <a:lstStyle/>
          <a:p>
            <a:endParaRPr lang="en-FI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2697480" cy="594360"/>
          </a:xfrm>
          <a:prstGeom prst="roundRect">
            <a:avLst>
              <a:gd name="adj" fmla="val 15385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FI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2697480" cy="2743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FI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Accessories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233172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FI"/>
          </a:p>
        </p:txBody>
      </p:sp>
      <p:sp>
        <p:nvSpPr>
          <p:cNvPr id="9" name="Text 7"/>
          <p:cNvSpPr/>
          <p:nvPr/>
        </p:nvSpPr>
        <p:spPr>
          <a:xfrm>
            <a:off x="777240" y="2331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61872" y="22860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Jewelry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61872" y="258775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171 orders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77240" y="310896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FI"/>
          </a:p>
        </p:txBody>
      </p:sp>
      <p:sp>
        <p:nvSpPr>
          <p:cNvPr id="13" name="Text 11"/>
          <p:cNvSpPr/>
          <p:nvPr/>
        </p:nvSpPr>
        <p:spPr>
          <a:xfrm>
            <a:off x="777240" y="3108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61872" y="306324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Sunglasses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61872" y="336499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161 orders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77240" y="388620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FI"/>
          </a:p>
        </p:txBody>
      </p:sp>
      <p:sp>
        <p:nvSpPr>
          <p:cNvPr id="17" name="Text 15"/>
          <p:cNvSpPr/>
          <p:nvPr/>
        </p:nvSpPr>
        <p:spPr>
          <a:xfrm>
            <a:off x="777240" y="3886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61872" y="384048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61872" y="414223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161 orders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383280" y="1554480"/>
            <a:ext cx="2697480" cy="4206240"/>
          </a:xfrm>
          <a:prstGeom prst="roundRect">
            <a:avLst>
              <a:gd name="adj" fmla="val 3390"/>
            </a:avLst>
          </a:prstGeom>
          <a:solidFill>
            <a:srgbClr val="F2F9F8"/>
          </a:solidFill>
          <a:ln/>
        </p:spPr>
        <p:txBody>
          <a:bodyPr/>
          <a:lstStyle/>
          <a:p>
            <a:endParaRPr lang="en-FI"/>
          </a:p>
        </p:txBody>
      </p:sp>
      <p:sp>
        <p:nvSpPr>
          <p:cNvPr id="21" name="Shape 19"/>
          <p:cNvSpPr/>
          <p:nvPr/>
        </p:nvSpPr>
        <p:spPr>
          <a:xfrm>
            <a:off x="3383280" y="1554480"/>
            <a:ext cx="2697480" cy="594360"/>
          </a:xfrm>
          <a:prstGeom prst="roundRect">
            <a:avLst>
              <a:gd name="adj" fmla="val 15385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FI"/>
          </a:p>
        </p:txBody>
      </p:sp>
      <p:sp>
        <p:nvSpPr>
          <p:cNvPr id="22" name="Shape 20"/>
          <p:cNvSpPr/>
          <p:nvPr/>
        </p:nvSpPr>
        <p:spPr>
          <a:xfrm>
            <a:off x="3383280" y="1874520"/>
            <a:ext cx="2697480" cy="2743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FI"/>
          </a:p>
        </p:txBody>
      </p:sp>
      <p:sp>
        <p:nvSpPr>
          <p:cNvPr id="23" name="Text 21"/>
          <p:cNvSpPr/>
          <p:nvPr/>
        </p:nvSpPr>
        <p:spPr>
          <a:xfrm>
            <a:off x="3383280" y="155448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611880" y="233172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FI"/>
          </a:p>
        </p:txBody>
      </p:sp>
      <p:sp>
        <p:nvSpPr>
          <p:cNvPr id="25" name="Text 23"/>
          <p:cNvSpPr/>
          <p:nvPr/>
        </p:nvSpPr>
        <p:spPr>
          <a:xfrm>
            <a:off x="3611880" y="2331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096512" y="22860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Blouse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096512" y="258775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171 orders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11880" y="310896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FI"/>
          </a:p>
        </p:txBody>
      </p:sp>
      <p:sp>
        <p:nvSpPr>
          <p:cNvPr id="29" name="Text 27"/>
          <p:cNvSpPr/>
          <p:nvPr/>
        </p:nvSpPr>
        <p:spPr>
          <a:xfrm>
            <a:off x="3611880" y="3108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096512" y="306324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096512" y="336499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171 orders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611880" y="388620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FI"/>
          </a:p>
        </p:txBody>
      </p:sp>
      <p:sp>
        <p:nvSpPr>
          <p:cNvPr id="33" name="Text 31"/>
          <p:cNvSpPr/>
          <p:nvPr/>
        </p:nvSpPr>
        <p:spPr>
          <a:xfrm>
            <a:off x="3611880" y="3886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096512" y="384048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Shirt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096512" y="414223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169 orders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217920" y="1554480"/>
            <a:ext cx="2697480" cy="4206240"/>
          </a:xfrm>
          <a:prstGeom prst="roundRect">
            <a:avLst>
              <a:gd name="adj" fmla="val 3390"/>
            </a:avLst>
          </a:prstGeom>
          <a:solidFill>
            <a:srgbClr val="F2F9F8"/>
          </a:solidFill>
          <a:ln/>
        </p:spPr>
        <p:txBody>
          <a:bodyPr/>
          <a:lstStyle/>
          <a:p>
            <a:endParaRPr lang="en-FI"/>
          </a:p>
        </p:txBody>
      </p:sp>
      <p:sp>
        <p:nvSpPr>
          <p:cNvPr id="37" name="Shape 35"/>
          <p:cNvSpPr/>
          <p:nvPr/>
        </p:nvSpPr>
        <p:spPr>
          <a:xfrm>
            <a:off x="6217920" y="1554480"/>
            <a:ext cx="2697480" cy="594360"/>
          </a:xfrm>
          <a:prstGeom prst="roundRect">
            <a:avLst>
              <a:gd name="adj" fmla="val 15385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FI"/>
          </a:p>
        </p:txBody>
      </p:sp>
      <p:sp>
        <p:nvSpPr>
          <p:cNvPr id="38" name="Shape 36"/>
          <p:cNvSpPr/>
          <p:nvPr/>
        </p:nvSpPr>
        <p:spPr>
          <a:xfrm>
            <a:off x="6217920" y="1874520"/>
            <a:ext cx="2697480" cy="2743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FI"/>
          </a:p>
        </p:txBody>
      </p:sp>
      <p:sp>
        <p:nvSpPr>
          <p:cNvPr id="39" name="Text 37"/>
          <p:cNvSpPr/>
          <p:nvPr/>
        </p:nvSpPr>
        <p:spPr>
          <a:xfrm>
            <a:off x="6217920" y="155448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Footwear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446520" y="233172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FI"/>
          </a:p>
        </p:txBody>
      </p:sp>
      <p:sp>
        <p:nvSpPr>
          <p:cNvPr id="41" name="Text 39"/>
          <p:cNvSpPr/>
          <p:nvPr/>
        </p:nvSpPr>
        <p:spPr>
          <a:xfrm>
            <a:off x="6446520" y="2331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931152" y="22860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Sandals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931152" y="258775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 orders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446520" y="310896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FI"/>
          </a:p>
        </p:txBody>
      </p:sp>
      <p:sp>
        <p:nvSpPr>
          <p:cNvPr id="45" name="Text 43"/>
          <p:cNvSpPr/>
          <p:nvPr/>
        </p:nvSpPr>
        <p:spPr>
          <a:xfrm>
            <a:off x="6446520" y="3108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931152" y="306324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Shoes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931152" y="336499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orders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446520" y="388620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FI"/>
          </a:p>
        </p:txBody>
      </p:sp>
      <p:sp>
        <p:nvSpPr>
          <p:cNvPr id="49" name="Text 47"/>
          <p:cNvSpPr/>
          <p:nvPr/>
        </p:nvSpPr>
        <p:spPr>
          <a:xfrm>
            <a:off x="6446520" y="3886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6931152" y="384048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Sneakers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6931152" y="414223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145 orders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9052560" y="1554480"/>
            <a:ext cx="2697480" cy="4206240"/>
          </a:xfrm>
          <a:prstGeom prst="roundRect">
            <a:avLst>
              <a:gd name="adj" fmla="val 3390"/>
            </a:avLst>
          </a:prstGeom>
          <a:solidFill>
            <a:srgbClr val="F2F9F8"/>
          </a:solidFill>
          <a:ln/>
        </p:spPr>
        <p:txBody>
          <a:bodyPr/>
          <a:lstStyle/>
          <a:p>
            <a:endParaRPr lang="en-FI"/>
          </a:p>
        </p:txBody>
      </p:sp>
      <p:sp>
        <p:nvSpPr>
          <p:cNvPr id="53" name="Shape 51"/>
          <p:cNvSpPr/>
          <p:nvPr/>
        </p:nvSpPr>
        <p:spPr>
          <a:xfrm>
            <a:off x="9052560" y="1554480"/>
            <a:ext cx="2697480" cy="594360"/>
          </a:xfrm>
          <a:prstGeom prst="roundRect">
            <a:avLst>
              <a:gd name="adj" fmla="val 15385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FI"/>
          </a:p>
        </p:txBody>
      </p:sp>
      <p:sp>
        <p:nvSpPr>
          <p:cNvPr id="54" name="Shape 52"/>
          <p:cNvSpPr/>
          <p:nvPr/>
        </p:nvSpPr>
        <p:spPr>
          <a:xfrm>
            <a:off x="9052560" y="1874520"/>
            <a:ext cx="2697480" cy="2743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FI"/>
          </a:p>
        </p:txBody>
      </p:sp>
      <p:sp>
        <p:nvSpPr>
          <p:cNvPr id="55" name="Text 53"/>
          <p:cNvSpPr/>
          <p:nvPr/>
        </p:nvSpPr>
        <p:spPr>
          <a:xfrm>
            <a:off x="9052560" y="155448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Outerwear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9281160" y="233172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FI"/>
          </a:p>
        </p:txBody>
      </p:sp>
      <p:sp>
        <p:nvSpPr>
          <p:cNvPr id="57" name="Text 55"/>
          <p:cNvSpPr/>
          <p:nvPr/>
        </p:nvSpPr>
        <p:spPr>
          <a:xfrm>
            <a:off x="9281160" y="2331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9765792" y="22860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Jacket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9765792" y="258775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163 orders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9281160" y="310896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FI"/>
          </a:p>
        </p:txBody>
      </p:sp>
      <p:sp>
        <p:nvSpPr>
          <p:cNvPr id="61" name="Text 59"/>
          <p:cNvSpPr/>
          <p:nvPr/>
        </p:nvSpPr>
        <p:spPr>
          <a:xfrm>
            <a:off x="9281160" y="3108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9765792" y="306324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Coat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9765792" y="336499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161 orders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is remarkably even across age groups</a:t>
            </a:r>
            <a:endParaRPr lang="en-US" sz="2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00200"/>
          <a:ext cx="69494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600200"/>
            <a:ext cx="3840480" cy="4206240"/>
          </a:xfrm>
          <a:prstGeom prst="roundRect">
            <a:avLst>
              <a:gd name="adj" fmla="val 2381"/>
            </a:avLst>
          </a:prstGeom>
          <a:solidFill>
            <a:srgbClr val="F2F9F8"/>
          </a:solidFill>
          <a:ln/>
        </p:spPr>
        <p:txBody>
          <a:bodyPr/>
          <a:lstStyle/>
          <a:p>
            <a:endParaRPr lang="en-FI"/>
          </a:p>
        </p:txBody>
      </p:sp>
      <p:sp>
        <p:nvSpPr>
          <p:cNvPr id="6" name="Text 3"/>
          <p:cNvSpPr/>
          <p:nvPr/>
        </p:nvSpPr>
        <p:spPr>
          <a:xfrm>
            <a:off x="8092440" y="192024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11%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092440" y="269748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between the highest and lowest age group — no single generation to over-index on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092440" y="384048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Adults lead narrowly ($62.1K). Campaigns can stay broad across age groups rather than niche by generation.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3D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95427" y="4800600"/>
            <a:ext cx="3840480" cy="38404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FI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86868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moves to grow revenue and loyalty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FI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5880" y="17373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Discount Policy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25880" y="210312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FC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 in reliance on Hat, Sneakers &amp; Coat markdowns; protect margin.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FI"/>
          </a:p>
        </p:txBody>
      </p:sp>
      <p:sp>
        <p:nvSpPr>
          <p:cNvPr id="10" name="Text 8"/>
          <p:cNvSpPr/>
          <p:nvPr/>
        </p:nvSpPr>
        <p:spPr>
          <a:xfrm>
            <a:off x="640080" y="3200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25880" y="31546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Marketing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25880" y="352044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FC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gender revenue gap with campaigns built for female shoppers.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461772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FI"/>
          </a:p>
        </p:txBody>
      </p:sp>
      <p:sp>
        <p:nvSpPr>
          <p:cNvPr id="14" name="Text 12"/>
          <p:cNvSpPr/>
          <p:nvPr/>
        </p:nvSpPr>
        <p:spPr>
          <a:xfrm>
            <a:off x="640080" y="4617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25880" y="45720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Positioning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25880" y="493776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FC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Gloves, Sandals &amp; Boots — the highest and most consistent ratings.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17920" y="178308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FI"/>
          </a:p>
        </p:txBody>
      </p:sp>
      <p:sp>
        <p:nvSpPr>
          <p:cNvPr id="18" name="Text 16"/>
          <p:cNvSpPr/>
          <p:nvPr/>
        </p:nvSpPr>
        <p:spPr>
          <a:xfrm>
            <a:off x="621792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903720" y="17373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 Subscriptions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903720" y="210312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FC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the 1,053-subscriber base with benefits that lift basket size, not just reach.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17920" y="320040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FI"/>
          </a:p>
        </p:txBody>
      </p:sp>
      <p:sp>
        <p:nvSpPr>
          <p:cNvPr id="22" name="Text 20"/>
          <p:cNvSpPr/>
          <p:nvPr/>
        </p:nvSpPr>
        <p:spPr>
          <a:xfrm>
            <a:off x="6217920" y="3200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903720" y="31546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Loyalty Programs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903720" y="352044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FC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Returning (701) into Loyal customers with a nudge after purchase #3 by rewarding some tailored good discounts to them.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625</Words>
  <Application>Microsoft Office PowerPoint</Application>
  <PresentationFormat>Widescreen</PresentationFormat>
  <Paragraphs>145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Huong Nguyen</cp:lastModifiedBy>
  <cp:revision>2</cp:revision>
  <dcterms:created xsi:type="dcterms:W3CDTF">2026-07-28T11:54:59Z</dcterms:created>
  <dcterms:modified xsi:type="dcterms:W3CDTF">2026-07-28T12:10:53Z</dcterms:modified>
</cp:coreProperties>
</file>